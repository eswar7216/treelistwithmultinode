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3597128" cy="90159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100" b="1">
                <a:solidFill>
                  <a:srgbClr val="06193A"/>
                </a:solidFill>
                <a:latin typeface="Arial"/>
              </a:rPr>
              <a:t>AI-Driven Delivery Impact – Annual Summary </a:t>
            </a:r>
            <a:r>
              <a:rPr sz="3100" b="1">
                <a:solidFill>
                  <a:srgbClr val="008F8F"/>
                </a:solidFill>
                <a:latin typeface="Arial"/>
              </a:rPr>
              <a:t>DISC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7680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C6778"/>
                </a:solidFill>
                <a:latin typeface="Arial"/>
              </a:rPr>
              <a:t>Leveraging AI &amp; RPI Model to Build Faster, Smarter and Reusable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188" y="1339595"/>
            <a:ext cx="12938760" cy="896112"/>
          </a:xfrm>
          <a:prstGeom prst="roundRect">
            <a:avLst/>
          </a:prstGeom>
          <a:solidFill>
            <a:srgbClr val="EEF2F7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9184" y="1298448"/>
            <a:ext cx="12938760" cy="8961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9184" y="1298448"/>
            <a:ext cx="1828800" cy="896112"/>
          </a:xfrm>
          <a:prstGeom prst="roundRect">
            <a:avLst/>
          </a:prstGeom>
          <a:solidFill>
            <a:srgbClr val="008F8F"/>
          </a:solidFill>
          <a:ln>
            <a:solidFill>
              <a:srgbClr val="00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517904"/>
            <a:ext cx="5029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527048"/>
            <a:ext cx="9144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WHAT
WE DID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0903" y="1499616"/>
            <a:ext cx="566928" cy="51206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1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199" y="1618488"/>
            <a:ext cx="402336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006F78"/>
                </a:solidFill>
                <a:latin typeface="Arial"/>
              </a:rPr>
              <a:t>&lt;/&gt;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1" y="1527048"/>
            <a:ext cx="20116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A253F"/>
                </a:solidFill>
                <a:latin typeface="Arial"/>
              </a:rPr>
              <a:t>Built Annual Summary DISC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1" y="1764792"/>
            <a:ext cx="2057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9" b="0">
                <a:solidFill>
                  <a:srgbClr val="1A253F"/>
                </a:solidFill>
                <a:latin typeface="Arial"/>
              </a:rPr>
              <a:t>using Spec-Driven Development
(RPI model)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61304" y="1463039"/>
            <a:ext cx="0" cy="566928"/>
          </a:xfrm>
          <a:prstGeom prst="line">
            <a:avLst/>
          </a:prstGeom>
          <a:ln w="12700">
            <a:solidFill>
              <a:srgbClr val="CC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95944" y="1463039"/>
            <a:ext cx="0" cy="566928"/>
          </a:xfrm>
          <a:prstGeom prst="line">
            <a:avLst/>
          </a:prstGeom>
          <a:ln w="12700">
            <a:solidFill>
              <a:srgbClr val="CC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Hexagon 14"/>
          <p:cNvSpPr/>
          <p:nvPr/>
        </p:nvSpPr>
        <p:spPr>
          <a:xfrm>
            <a:off x="6227064" y="1463039"/>
            <a:ext cx="566928" cy="566928"/>
          </a:xfrm>
          <a:prstGeom prst="hexagon">
            <a:avLst/>
          </a:prstGeom>
          <a:solidFill>
            <a:srgbClr val="FFFFFF"/>
          </a:solidFill>
          <a:ln w="19050">
            <a:solidFill>
              <a:srgbClr val="50B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554480"/>
            <a:ext cx="27432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06193A"/>
                </a:solidFill>
                <a:latin typeface="Arial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1527048"/>
            <a:ext cx="19202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A253F"/>
                </a:solidFill>
                <a:latin typeface="Arial"/>
              </a:rPr>
              <a:t>Leveraged Cursor 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1764792"/>
            <a:ext cx="15544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9" b="0">
                <a:solidFill>
                  <a:srgbClr val="1A253F"/>
                </a:solidFill>
                <a:latin typeface="Arial"/>
              </a:rPr>
              <a:t>for AI-assisted
development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704" y="1499616"/>
            <a:ext cx="566928" cy="51206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1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655064"/>
            <a:ext cx="310896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6193A"/>
                </a:solidFill>
                <a:latin typeface="Arial"/>
              </a:rPr>
              <a:t>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1512" y="1517904"/>
            <a:ext cx="29260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9" b="1">
                <a:solidFill>
                  <a:srgbClr val="1A253F"/>
                </a:solidFill>
                <a:latin typeface="Arial"/>
              </a:rPr>
              <a:t>Standardized prompt → plan → implementation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1512" y="1773936"/>
            <a:ext cx="23774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A253F"/>
                </a:solidFill>
                <a:latin typeface="Arial"/>
              </a:rPr>
              <a:t>lifecycle with reusable specs
shared via GitHub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" y="2372868"/>
            <a:ext cx="12938760" cy="3337560"/>
          </a:xfrm>
          <a:prstGeom prst="roundRect">
            <a:avLst/>
          </a:prstGeom>
          <a:solidFill>
            <a:srgbClr val="EEF2F7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29184" y="2331720"/>
            <a:ext cx="12938760" cy="3337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776" y="2651760"/>
            <a:ext cx="41148" cy="109728"/>
          </a:xfrm>
          <a:prstGeom prst="rect">
            <a:avLst/>
          </a:prstGeom>
          <a:solidFill>
            <a:srgbClr val="006F78"/>
          </a:solidFill>
          <a:ln>
            <a:solidFill>
              <a:srgbClr val="00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1500" y="2596896"/>
            <a:ext cx="41148" cy="164592"/>
          </a:xfrm>
          <a:prstGeom prst="rect">
            <a:avLst/>
          </a:prstGeom>
          <a:solidFill>
            <a:srgbClr val="006F78"/>
          </a:solidFill>
          <a:ln>
            <a:solidFill>
              <a:srgbClr val="00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" y="2532888"/>
            <a:ext cx="41148" cy="228600"/>
          </a:xfrm>
          <a:prstGeom prst="rect">
            <a:avLst/>
          </a:prstGeom>
          <a:solidFill>
            <a:srgbClr val="006F78"/>
          </a:solidFill>
          <a:ln>
            <a:solidFill>
              <a:srgbClr val="00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2505456"/>
            <a:ext cx="27432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6F78"/>
                </a:solidFill>
                <a:latin typeface="Arial"/>
              </a:rPr>
              <a:t>KEY IMPACT METRICS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3776" y="3099815"/>
            <a:ext cx="2395728" cy="24505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08176" y="2798063"/>
            <a:ext cx="566928" cy="566928"/>
          </a:xfrm>
          <a:prstGeom prst="ellipse">
            <a:avLst/>
          </a:prstGeom>
          <a:solidFill>
            <a:srgbClr val="008F8F"/>
          </a:solidFill>
          <a:ln w="12700">
            <a:solidFill>
              <a:srgbClr val="00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08176" y="2911449"/>
            <a:ext cx="566928" cy="311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" y="3575303"/>
            <a:ext cx="2121408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008F8F"/>
                </a:solidFill>
                <a:latin typeface="Arial"/>
              </a:rPr>
              <a:t>30–50%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3977639"/>
            <a:ext cx="1938528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70" b="1">
                <a:solidFill>
                  <a:srgbClr val="1A253F"/>
                </a:solidFill>
                <a:latin typeface="Arial"/>
              </a:rPr>
              <a:t>Faster Development
Cycles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6696" y="4855464"/>
            <a:ext cx="438912" cy="393192"/>
          </a:xfrm>
          <a:prstGeom prst="rect">
            <a:avLst/>
          </a:prstGeom>
          <a:solidFill>
            <a:srgbClr val="949EAB"/>
          </a:solidFill>
          <a:ln>
            <a:solidFill>
              <a:srgbClr val="949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75104" y="4535424"/>
            <a:ext cx="438912" cy="713232"/>
          </a:xfrm>
          <a:prstGeom prst="rect">
            <a:avLst/>
          </a:prstGeom>
          <a:solidFill>
            <a:srgbClr val="008F8F"/>
          </a:solidFill>
          <a:ln>
            <a:solidFill>
              <a:srgbClr val="00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841248" y="5248656"/>
            <a:ext cx="1728216" cy="0"/>
          </a:xfrm>
          <a:prstGeom prst="line">
            <a:avLst/>
          </a:prstGeom>
          <a:ln w="12700">
            <a:solidFill>
              <a:srgbClr val="949E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207008" y="4352544"/>
            <a:ext cx="1207008" cy="822960"/>
          </a:xfrm>
          <a:prstGeom prst="line">
            <a:avLst/>
          </a:prstGeom>
          <a:ln w="21590">
            <a:solidFill>
              <a:srgbClr val="008F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96696" y="5312664"/>
            <a:ext cx="438912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A253F"/>
                </a:solidFill>
                <a:latin typeface="Arial"/>
              </a:rPr>
              <a:t>Before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38528" y="5312664"/>
            <a:ext cx="512064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A253F"/>
                </a:solidFill>
                <a:latin typeface="Arial"/>
              </a:rPr>
              <a:t>After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35808" y="3099815"/>
            <a:ext cx="2395728" cy="24505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950208" y="2798063"/>
            <a:ext cx="566928" cy="566928"/>
          </a:xfrm>
          <a:prstGeom prst="ellipse">
            <a:avLst/>
          </a:prstGeom>
          <a:solidFill>
            <a:srgbClr val="1F69CA"/>
          </a:solidFill>
          <a:ln w="12700">
            <a:solidFill>
              <a:srgbClr val="1F6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50208" y="2911449"/>
            <a:ext cx="566928" cy="311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72968" y="3575303"/>
            <a:ext cx="2121408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1F69CA"/>
                </a:solidFill>
                <a:latin typeface="Arial"/>
              </a:rPr>
              <a:t>70%+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64408" y="3977639"/>
            <a:ext cx="1938528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70" b="1">
                <a:solidFill>
                  <a:srgbClr val="1A253F"/>
                </a:solidFill>
                <a:latin typeface="Arial"/>
              </a:rPr>
              <a:t>Reusable Prompts/Specs
Across Features</a:t>
            </a:r>
          </a:p>
        </p:txBody>
      </p:sp>
      <p:sp>
        <p:nvSpPr>
          <p:cNvPr id="45" name="Oval 44"/>
          <p:cNvSpPr/>
          <p:nvPr/>
        </p:nvSpPr>
        <p:spPr>
          <a:xfrm>
            <a:off x="3611880" y="4288536"/>
            <a:ext cx="960120" cy="960120"/>
          </a:xfrm>
          <a:prstGeom prst="ellipse">
            <a:avLst/>
          </a:prstGeom>
          <a:solidFill>
            <a:srgbClr val="E7F2FF"/>
          </a:solidFill>
          <a:ln>
            <a:solidFill>
              <a:srgbClr val="E7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ie 45"/>
          <p:cNvSpPr/>
          <p:nvPr/>
        </p:nvSpPr>
        <p:spPr>
          <a:xfrm>
            <a:off x="3611880" y="4288536"/>
            <a:ext cx="960120" cy="960120"/>
          </a:xfrm>
          <a:prstGeom prst="pie">
            <a:avLst/>
          </a:prstGeom>
          <a:solidFill>
            <a:srgbClr val="1F69CA"/>
          </a:solidFill>
          <a:ln>
            <a:solidFill>
              <a:srgbClr val="1F6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840480" y="4517136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0" y="4690872"/>
            <a:ext cx="502920" cy="1188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F69CA"/>
                </a:solidFill>
                <a:latin typeface="Arial"/>
              </a:rPr>
              <a:t>70%+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98848" y="4416552"/>
            <a:ext cx="658368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A253F"/>
                </a:solidFill>
                <a:latin typeface="Arial"/>
              </a:rPr>
              <a:t>Reused
Across
Teams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577840" y="3099815"/>
            <a:ext cx="2395728" cy="24505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A4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492240" y="2798063"/>
            <a:ext cx="566928" cy="566928"/>
          </a:xfrm>
          <a:prstGeom prst="ellipse">
            <a:avLst/>
          </a:prstGeom>
          <a:solidFill>
            <a:srgbClr val="7A49B5"/>
          </a:solidFill>
          <a:ln w="12700">
            <a:solidFill>
              <a:srgbClr val="7A4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2911449"/>
            <a:ext cx="566928" cy="311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•••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15000" y="3575303"/>
            <a:ext cx="2121408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7A49B5"/>
                </a:solidFill>
                <a:latin typeface="Arial"/>
              </a:rPr>
              <a:t>40% 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06440" y="3977639"/>
            <a:ext cx="1938528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70" b="1">
                <a:solidFill>
                  <a:srgbClr val="1A253F"/>
                </a:solidFill>
                <a:latin typeface="Arial"/>
              </a:rPr>
              <a:t>Reduction in Rework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72200" y="4288536"/>
            <a:ext cx="438912" cy="960120"/>
          </a:xfrm>
          <a:prstGeom prst="rect">
            <a:avLst/>
          </a:prstGeom>
          <a:solidFill>
            <a:srgbClr val="949EAB"/>
          </a:solidFill>
          <a:ln>
            <a:solidFill>
              <a:srgbClr val="949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150608" y="4864608"/>
            <a:ext cx="438912" cy="384048"/>
          </a:xfrm>
          <a:prstGeom prst="rect">
            <a:avLst/>
          </a:prstGeom>
          <a:solidFill>
            <a:srgbClr val="7A49B5"/>
          </a:solidFill>
          <a:ln>
            <a:solidFill>
              <a:srgbClr val="7A4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5989320" y="5248656"/>
            <a:ext cx="1664208" cy="0"/>
          </a:xfrm>
          <a:prstGeom prst="line">
            <a:avLst/>
          </a:prstGeom>
          <a:ln w="12700">
            <a:solidFill>
              <a:srgbClr val="949E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766560" y="4379976"/>
            <a:ext cx="621792" cy="457200"/>
          </a:xfrm>
          <a:prstGeom prst="line">
            <a:avLst/>
          </a:prstGeom>
          <a:ln w="17780">
            <a:solidFill>
              <a:srgbClr val="7A49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108192" y="5312664"/>
            <a:ext cx="530352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A253F"/>
                </a:solidFill>
                <a:latin typeface="Arial"/>
              </a:rPr>
              <a:t>Before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95744" y="5312664"/>
            <a:ext cx="530352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A253F"/>
                </a:solidFill>
                <a:latin typeface="Arial"/>
              </a:rPr>
              <a:t>After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19871" y="3099815"/>
            <a:ext cx="2395728" cy="24505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034272" y="2798063"/>
            <a:ext cx="566928" cy="566928"/>
          </a:xfrm>
          <a:prstGeom prst="ellipse">
            <a:avLst/>
          </a:prstGeom>
          <a:solidFill>
            <a:srgbClr val="30A552"/>
          </a:solidFill>
          <a:ln w="12700">
            <a:solidFill>
              <a:srgbClr val="30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34272" y="2911449"/>
            <a:ext cx="566928" cy="311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57031" y="3575303"/>
            <a:ext cx="2121408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30A552"/>
                </a:solidFill>
                <a:latin typeface="Arial"/>
              </a:rPr>
              <a:t>Higher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48471" y="3977639"/>
            <a:ext cx="1938528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70" b="1">
                <a:solidFill>
                  <a:srgbClr val="1A253F"/>
                </a:solidFill>
                <a:latin typeface="Arial"/>
              </a:rPr>
              <a:t>Code Quality &amp; Consistency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94192" y="4507992"/>
            <a:ext cx="184708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30A552"/>
                </a:solidFill>
                <a:latin typeface="Arial"/>
              </a:rPr>
              <a:t>★ ★ ★ ★ 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03919" y="5020056"/>
            <a:ext cx="1627632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A253F"/>
                </a:solidFill>
                <a:latin typeface="Arial"/>
              </a:rPr>
              <a:t>Fewer Defects,
Stronger Standards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661904" y="3099815"/>
            <a:ext cx="2395728" cy="24505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576304" y="2798063"/>
            <a:ext cx="566928" cy="566928"/>
          </a:xfrm>
          <a:prstGeom prst="ellipse">
            <a:avLst/>
          </a:prstGeom>
          <a:solidFill>
            <a:srgbClr val="EE8800"/>
          </a:solidFill>
          <a:ln w="12700">
            <a:solidFill>
              <a:srgbClr val="EE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576304" y="2911449"/>
            <a:ext cx="566928" cy="311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•••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799064" y="3575303"/>
            <a:ext cx="2121408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EE8800"/>
                </a:solidFill>
                <a:latin typeface="Arial"/>
              </a:rPr>
              <a:t>Faster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890504" y="3977639"/>
            <a:ext cx="1938528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70" b="1">
                <a:solidFill>
                  <a:srgbClr val="1A253F"/>
                </a:solidFill>
                <a:latin typeface="Arial"/>
              </a:rPr>
              <a:t>Collaboration &amp; Onboarding</a:t>
            </a:r>
          </a:p>
        </p:txBody>
      </p:sp>
      <p:sp>
        <p:nvSpPr>
          <p:cNvPr id="73" name="Oval 72"/>
          <p:cNvSpPr/>
          <p:nvPr/>
        </p:nvSpPr>
        <p:spPr>
          <a:xfrm>
            <a:off x="11365992" y="4306824"/>
            <a:ext cx="155448" cy="155448"/>
          </a:xfrm>
          <a:prstGeom prst="ellipse">
            <a:avLst/>
          </a:prstGeom>
          <a:solidFill>
            <a:srgbClr val="EE8800"/>
          </a:solidFill>
          <a:ln>
            <a:solidFill>
              <a:srgbClr val="EE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320272" y="4462272"/>
            <a:ext cx="256032" cy="292608"/>
          </a:xfrm>
          <a:prstGeom prst="roundRect">
            <a:avLst/>
          </a:prstGeom>
          <a:solidFill>
            <a:srgbClr val="EE8800"/>
          </a:solidFill>
          <a:ln>
            <a:solidFill>
              <a:srgbClr val="EE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695176" y="4178808"/>
            <a:ext cx="155448" cy="155448"/>
          </a:xfrm>
          <a:prstGeom prst="ellipse">
            <a:avLst/>
          </a:prstGeom>
          <a:solidFill>
            <a:srgbClr val="EE8800"/>
          </a:solidFill>
          <a:ln>
            <a:solidFill>
              <a:srgbClr val="EE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1649456" y="4334256"/>
            <a:ext cx="256032" cy="420624"/>
          </a:xfrm>
          <a:prstGeom prst="roundRect">
            <a:avLst/>
          </a:prstGeom>
          <a:solidFill>
            <a:srgbClr val="EE8800"/>
          </a:solidFill>
          <a:ln>
            <a:solidFill>
              <a:srgbClr val="EE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2024360" y="4032504"/>
            <a:ext cx="155448" cy="155448"/>
          </a:xfrm>
          <a:prstGeom prst="ellipse">
            <a:avLst/>
          </a:prstGeom>
          <a:solidFill>
            <a:srgbClr val="EE8800"/>
          </a:solidFill>
          <a:ln>
            <a:solidFill>
              <a:srgbClr val="EE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1978640" y="4187952"/>
            <a:ext cx="256032" cy="566928"/>
          </a:xfrm>
          <a:prstGeom prst="roundRect">
            <a:avLst/>
          </a:prstGeom>
          <a:solidFill>
            <a:srgbClr val="EE8800"/>
          </a:solidFill>
          <a:ln>
            <a:solidFill>
              <a:srgbClr val="EE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 flipV="1">
            <a:off x="11466576" y="3913632"/>
            <a:ext cx="804672" cy="310896"/>
          </a:xfrm>
          <a:prstGeom prst="line">
            <a:avLst/>
          </a:prstGeom>
          <a:ln w="21590">
            <a:solidFill>
              <a:srgbClr val="EE8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1027664" y="5047488"/>
            <a:ext cx="166420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A253F"/>
                </a:solidFill>
                <a:latin typeface="Arial"/>
              </a:rPr>
              <a:t>Shared Specs →
Cross-team Reuse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61188" y="5847588"/>
            <a:ext cx="5989320" cy="2011680"/>
          </a:xfrm>
          <a:prstGeom prst="roundRect">
            <a:avLst/>
          </a:prstGeom>
          <a:solidFill>
            <a:srgbClr val="EEF2F7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329184" y="5806440"/>
            <a:ext cx="5989320" cy="2011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30352" y="5998464"/>
            <a:ext cx="54864" cy="54864"/>
          </a:xfrm>
          <a:prstGeom prst="ellipse">
            <a:avLst/>
          </a:prstGeom>
          <a:solidFill>
            <a:srgbClr val="006F78"/>
          </a:solidFill>
          <a:ln>
            <a:solidFill>
              <a:srgbClr val="00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12647" y="5998464"/>
            <a:ext cx="54864" cy="54864"/>
          </a:xfrm>
          <a:prstGeom prst="ellipse">
            <a:avLst/>
          </a:prstGeom>
          <a:solidFill>
            <a:srgbClr val="006F78"/>
          </a:solidFill>
          <a:ln>
            <a:solidFill>
              <a:srgbClr val="00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94944" y="5998464"/>
            <a:ext cx="54864" cy="54864"/>
          </a:xfrm>
          <a:prstGeom prst="ellipse">
            <a:avLst/>
          </a:prstGeom>
          <a:solidFill>
            <a:srgbClr val="006F78"/>
          </a:solidFill>
          <a:ln>
            <a:solidFill>
              <a:srgbClr val="00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576072" y="6025895"/>
            <a:ext cx="164592" cy="0"/>
          </a:xfrm>
          <a:prstGeom prst="line">
            <a:avLst/>
          </a:prstGeom>
          <a:ln w="1270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859536" y="5925312"/>
            <a:ext cx="38404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06F78"/>
                </a:solidFill>
                <a:latin typeface="Arial"/>
              </a:rPr>
              <a:t>OUR AI SDLC FLOW (RPI MODEL)</a:t>
            </a:r>
          </a:p>
        </p:txBody>
      </p:sp>
      <p:sp>
        <p:nvSpPr>
          <p:cNvPr id="88" name="Oval 87"/>
          <p:cNvSpPr/>
          <p:nvPr/>
        </p:nvSpPr>
        <p:spPr>
          <a:xfrm>
            <a:off x="740664" y="6446520"/>
            <a:ext cx="640080" cy="640080"/>
          </a:xfrm>
          <a:prstGeom prst="ellipse">
            <a:avLst/>
          </a:prstGeom>
          <a:solidFill>
            <a:srgbClr val="E0F7F7"/>
          </a:solidFill>
          <a:ln w="12700">
            <a:solidFill>
              <a:srgbClr val="E0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40664" y="6574536"/>
            <a:ext cx="640080" cy="3520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06F78"/>
                </a:solidFill>
                <a:latin typeface="Arial"/>
              </a:rPr>
              <a:t>☁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453896" y="6766559"/>
            <a:ext cx="347472" cy="0"/>
          </a:xfrm>
          <a:prstGeom prst="line">
            <a:avLst/>
          </a:prstGeom>
          <a:ln w="1778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76072" y="7141464"/>
            <a:ext cx="960120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30" b="1">
                <a:solidFill>
                  <a:srgbClr val="006F78"/>
                </a:solidFill>
                <a:latin typeface="Arial"/>
              </a:rPr>
              <a:t>1. Prompt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76072" y="7306055"/>
            <a:ext cx="9875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10" b="0">
                <a:solidFill>
                  <a:srgbClr val="1A253F"/>
                </a:solidFill>
                <a:latin typeface="Arial"/>
              </a:rPr>
              <a:t>Capture intent
and requirements</a:t>
            </a:r>
          </a:p>
        </p:txBody>
      </p:sp>
      <p:sp>
        <p:nvSpPr>
          <p:cNvPr id="93" name="Oval 92"/>
          <p:cNvSpPr/>
          <p:nvPr/>
        </p:nvSpPr>
        <p:spPr>
          <a:xfrm>
            <a:off x="1883664" y="6446520"/>
            <a:ext cx="640080" cy="640080"/>
          </a:xfrm>
          <a:prstGeom prst="ellipse">
            <a:avLst/>
          </a:prstGeom>
          <a:solidFill>
            <a:srgbClr val="E7F2FF"/>
          </a:solidFill>
          <a:ln w="12700">
            <a:solidFill>
              <a:srgbClr val="E7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883664" y="6574536"/>
            <a:ext cx="640080" cy="3520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F69CA"/>
                </a:solidFill>
                <a:latin typeface="Arial"/>
              </a:rPr>
              <a:t>▤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2596896" y="6766559"/>
            <a:ext cx="347472" cy="0"/>
          </a:xfrm>
          <a:prstGeom prst="line">
            <a:avLst/>
          </a:prstGeom>
          <a:ln w="1778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1719072" y="7141464"/>
            <a:ext cx="960120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30" b="1">
                <a:solidFill>
                  <a:srgbClr val="1F69CA"/>
                </a:solidFill>
                <a:latin typeface="Arial"/>
              </a:rPr>
              <a:t>2. RPI Spec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719072" y="7306055"/>
            <a:ext cx="9875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10" b="0">
                <a:solidFill>
                  <a:srgbClr val="1A253F"/>
                </a:solidFill>
                <a:latin typeface="Arial"/>
              </a:rPr>
              <a:t>Generate structured
spec using RPI model</a:t>
            </a:r>
          </a:p>
        </p:txBody>
      </p:sp>
      <p:sp>
        <p:nvSpPr>
          <p:cNvPr id="98" name="Oval 97"/>
          <p:cNvSpPr/>
          <p:nvPr/>
        </p:nvSpPr>
        <p:spPr>
          <a:xfrm>
            <a:off x="3026664" y="6446520"/>
            <a:ext cx="640080" cy="640080"/>
          </a:xfrm>
          <a:prstGeom prst="ellipse">
            <a:avLst/>
          </a:prstGeom>
          <a:solidFill>
            <a:srgbClr val="F3EBFF"/>
          </a:solidFill>
          <a:ln w="12700">
            <a:solidFill>
              <a:srgbClr val="F3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026664" y="6574536"/>
            <a:ext cx="640080" cy="3520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7A49B5"/>
                </a:solidFill>
                <a:latin typeface="Arial"/>
              </a:rPr>
              <a:t>▱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3739896" y="6766559"/>
            <a:ext cx="347472" cy="0"/>
          </a:xfrm>
          <a:prstGeom prst="line">
            <a:avLst/>
          </a:prstGeom>
          <a:ln w="1778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862072" y="7141464"/>
            <a:ext cx="960120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30" b="1">
                <a:solidFill>
                  <a:srgbClr val="7A49B5"/>
                </a:solidFill>
                <a:latin typeface="Arial"/>
              </a:rPr>
              <a:t>3. Cursor Execution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862072" y="7306055"/>
            <a:ext cx="9875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10" b="0">
                <a:solidFill>
                  <a:srgbClr val="1A253F"/>
                </a:solidFill>
                <a:latin typeface="Arial"/>
              </a:rPr>
              <a:t>AI-assisted coding
with Cursor IDE</a:t>
            </a:r>
          </a:p>
        </p:txBody>
      </p:sp>
      <p:sp>
        <p:nvSpPr>
          <p:cNvPr id="103" name="Oval 102"/>
          <p:cNvSpPr/>
          <p:nvPr/>
        </p:nvSpPr>
        <p:spPr>
          <a:xfrm>
            <a:off x="4169664" y="6446520"/>
            <a:ext cx="640080" cy="640080"/>
          </a:xfrm>
          <a:prstGeom prst="ellipse">
            <a:avLst/>
          </a:prstGeom>
          <a:solidFill>
            <a:srgbClr val="EAF8EE"/>
          </a:solidFill>
          <a:ln w="12700">
            <a:solidFill>
              <a:srgbClr val="EAF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169664" y="6574536"/>
            <a:ext cx="640080" cy="3520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30A552"/>
                </a:solidFill>
                <a:latin typeface="Arial"/>
              </a:rPr>
              <a:t>&lt;/&gt;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4882896" y="6766559"/>
            <a:ext cx="347472" cy="0"/>
          </a:xfrm>
          <a:prstGeom prst="line">
            <a:avLst/>
          </a:prstGeom>
          <a:ln w="1778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4005072" y="7141464"/>
            <a:ext cx="960120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30" b="1">
                <a:solidFill>
                  <a:srgbClr val="30A552"/>
                </a:solidFill>
                <a:latin typeface="Arial"/>
              </a:rPr>
              <a:t>4. Validate &amp; Refine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05072" y="7306055"/>
            <a:ext cx="9875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10" b="0">
                <a:solidFill>
                  <a:srgbClr val="1A253F"/>
                </a:solidFill>
                <a:latin typeface="Arial"/>
              </a:rPr>
              <a:t>Review, test and
refine for quality</a:t>
            </a:r>
          </a:p>
        </p:txBody>
      </p:sp>
      <p:sp>
        <p:nvSpPr>
          <p:cNvPr id="108" name="Oval 107"/>
          <p:cNvSpPr/>
          <p:nvPr/>
        </p:nvSpPr>
        <p:spPr>
          <a:xfrm>
            <a:off x="5312664" y="6446520"/>
            <a:ext cx="640080" cy="640080"/>
          </a:xfrm>
          <a:prstGeom prst="ellipse">
            <a:avLst/>
          </a:prstGeom>
          <a:solidFill>
            <a:srgbClr val="FFF5E7"/>
          </a:solidFill>
          <a:ln w="12700">
            <a:solidFill>
              <a:srgbClr val="FFF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312664" y="6574536"/>
            <a:ext cx="640080" cy="3520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E8800"/>
                </a:solidFill>
                <a:latin typeface="Arial"/>
              </a:rPr>
              <a:t>⬡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148072" y="7141464"/>
            <a:ext cx="960120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30" b="1">
                <a:solidFill>
                  <a:srgbClr val="EE8800"/>
                </a:solidFill>
                <a:latin typeface="Arial"/>
              </a:rPr>
              <a:t>5. Reuse &amp; Scale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148072" y="7306055"/>
            <a:ext cx="9875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10" b="0">
                <a:solidFill>
                  <a:srgbClr val="1A253F"/>
                </a:solidFill>
                <a:latin typeface="Arial"/>
              </a:rPr>
              <a:t>Share specs, reuse
and scale across teams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85216" y="7534656"/>
            <a:ext cx="5477256" cy="228600"/>
          </a:xfrm>
          <a:prstGeom prst="roundRect">
            <a:avLst/>
          </a:prstGeom>
          <a:solidFill>
            <a:srgbClr val="E0F7F7"/>
          </a:solidFill>
          <a:ln>
            <a:solidFill>
              <a:srgbClr val="E0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77824" y="7584948"/>
            <a:ext cx="489204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40" b="1">
                <a:solidFill>
                  <a:srgbClr val="1A253F"/>
                </a:solidFill>
                <a:latin typeface="Arial"/>
              </a:rPr>
              <a:t>↻   Persistent context. Reusable specs. Scalable AI-assisted development.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451092" y="5847588"/>
            <a:ext cx="4251960" cy="2011680"/>
          </a:xfrm>
          <a:prstGeom prst="roundRect">
            <a:avLst/>
          </a:prstGeom>
          <a:solidFill>
            <a:srgbClr val="EEF2F7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6419088" y="5806440"/>
            <a:ext cx="4251960" cy="2011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876288" y="5952744"/>
            <a:ext cx="33375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9CA"/>
                </a:solidFill>
                <a:latin typeface="Arial"/>
              </a:rPr>
              <a:t>BEFORE vs AFTER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675120" y="6373368"/>
            <a:ext cx="1554480" cy="1234440"/>
          </a:xfrm>
          <a:prstGeom prst="round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8842248" y="6373368"/>
            <a:ext cx="1554480" cy="1234440"/>
          </a:xfrm>
          <a:prstGeom prst="roundRect">
            <a:avLst/>
          </a:prstGeom>
          <a:solidFill>
            <a:srgbClr val="EAF8EE"/>
          </a:solidFill>
          <a:ln>
            <a:solidFill>
              <a:srgbClr val="EAF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7104888" y="6272783"/>
            <a:ext cx="822960" cy="210312"/>
          </a:xfrm>
          <a:prstGeom prst="roundRect">
            <a:avLst/>
          </a:prstGeom>
          <a:solidFill>
            <a:srgbClr val="525E6F"/>
          </a:solidFill>
          <a:ln>
            <a:solidFill>
              <a:srgbClr val="525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104888" y="6318504"/>
            <a:ext cx="822960" cy="731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BEFORE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208008" y="6272783"/>
            <a:ext cx="822960" cy="210312"/>
          </a:xfrm>
          <a:prstGeom prst="roundRect">
            <a:avLst/>
          </a:prstGeom>
          <a:solidFill>
            <a:srgbClr val="30A552"/>
          </a:solidFill>
          <a:ln>
            <a:solidFill>
              <a:srgbClr val="30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208008" y="6318504"/>
            <a:ext cx="822960" cy="731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AFTER</a:t>
            </a:r>
          </a:p>
        </p:txBody>
      </p:sp>
      <p:sp>
        <p:nvSpPr>
          <p:cNvPr id="123" name="Right Triangle 122"/>
          <p:cNvSpPr/>
          <p:nvPr/>
        </p:nvSpPr>
        <p:spPr>
          <a:xfrm>
            <a:off x="8202167" y="6675120"/>
            <a:ext cx="530352" cy="658368"/>
          </a:xfrm>
          <a:prstGeom prst="rtTriangle">
            <a:avLst/>
          </a:prstGeom>
          <a:solidFill>
            <a:srgbClr val="26AF70"/>
          </a:solidFill>
          <a:ln>
            <a:solidFill>
              <a:srgbClr val="26A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803136" y="6565392"/>
            <a:ext cx="182880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525E6F"/>
                </a:solidFill>
                <a:latin typeface="Arial"/>
              </a:rPr>
              <a:t>•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086600" y="6565392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60" b="0">
                <a:solidFill>
                  <a:srgbClr val="1A253F"/>
                </a:solidFill>
                <a:latin typeface="Arial"/>
              </a:rPr>
              <a:t>One-off prompts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803136" y="6848855"/>
            <a:ext cx="182880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525E6F"/>
                </a:solidFill>
                <a:latin typeface="Arial"/>
              </a:rPr>
              <a:t>↻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086600" y="6848855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60" b="0">
                <a:solidFill>
                  <a:srgbClr val="1A253F"/>
                </a:solidFill>
                <a:latin typeface="Arial"/>
              </a:rPr>
              <a:t>Context lost
every iteration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03136" y="7132320"/>
            <a:ext cx="182880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525E6F"/>
                </a:solidFill>
                <a:latin typeface="Arial"/>
              </a:rPr>
              <a:t>!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086600" y="7132320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60" b="0">
                <a:solidFill>
                  <a:srgbClr val="1A253F"/>
                </a:solidFill>
                <a:latin typeface="Arial"/>
              </a:rPr>
              <a:t>High rework &amp;
inconsistent outputs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803136" y="7415783"/>
            <a:ext cx="182880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525E6F"/>
                </a:solidFill>
                <a:latin typeface="Arial"/>
              </a:rPr>
              <a:t>○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086600" y="7415783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60" b="0">
                <a:solidFill>
                  <a:srgbClr val="1A253F"/>
                </a:solidFill>
                <a:latin typeface="Arial"/>
              </a:rPr>
              <a:t>Slow delivery &amp;
steep onboarding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997696" y="6565392"/>
            <a:ext cx="201168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30A552"/>
                </a:solidFill>
                <a:latin typeface="Arial"/>
              </a:rPr>
              <a:t>&lt;/&gt;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272016" y="6565392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1A253F"/>
                </a:solidFill>
                <a:latin typeface="Arial"/>
              </a:rPr>
              <a:t>Structured RPI specs
(persistent context)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997696" y="6848855"/>
            <a:ext cx="201168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30A552"/>
                </a:solidFill>
                <a:latin typeface="Arial"/>
              </a:rPr>
              <a:t>✓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272016" y="6848855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1A253F"/>
                </a:solidFill>
                <a:latin typeface="Arial"/>
              </a:rPr>
              <a:t>Reusable across
teams &amp; features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997696" y="7132320"/>
            <a:ext cx="201168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30A552"/>
                </a:solidFill>
                <a:latin typeface="Arial"/>
              </a:rPr>
              <a:t>✓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272016" y="7132320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1A253F"/>
                </a:solidFill>
                <a:latin typeface="Arial"/>
              </a:rPr>
              <a:t>Reduced rework,
consistent outputs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997696" y="7415783"/>
            <a:ext cx="201168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30A552"/>
                </a:solidFill>
                <a:latin typeface="Arial"/>
              </a:rPr>
              <a:t>○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272016" y="7415783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1A253F"/>
                </a:solidFill>
                <a:latin typeface="Arial"/>
              </a:rPr>
              <a:t>Faster delivery &amp;
easier onboarding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0835640" y="5806440"/>
            <a:ext cx="2432304" cy="2011680"/>
          </a:xfrm>
          <a:prstGeom prst="roundRect">
            <a:avLst/>
          </a:prstGeom>
          <a:solidFill>
            <a:srgbClr val="006569"/>
          </a:solidFill>
          <a:ln>
            <a:solidFill>
              <a:srgbClr val="006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1786616" y="5971031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1786616" y="6062471"/>
            <a:ext cx="457200" cy="2514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06F78"/>
                </a:solidFill>
                <a:latin typeface="Arial"/>
              </a:rPr>
              <a:t>♕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109960" y="6574536"/>
            <a:ext cx="188366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11219688" y="6830568"/>
            <a:ext cx="1664208" cy="0"/>
          </a:xfrm>
          <a:prstGeom prst="line">
            <a:avLst/>
          </a:prstGeom>
          <a:ln w="12700">
            <a:solidFill>
              <a:srgbClr val="84D5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tangle 144"/>
          <p:cNvSpPr/>
          <p:nvPr/>
        </p:nvSpPr>
        <p:spPr>
          <a:xfrm>
            <a:off x="12280392" y="7662672"/>
            <a:ext cx="82296" cy="45720"/>
          </a:xfrm>
          <a:prstGeom prst="rect">
            <a:avLst/>
          </a:prstGeom>
          <a:solidFill>
            <a:srgbClr val="008F8F"/>
          </a:solidFill>
          <a:ln>
            <a:solidFill>
              <a:srgbClr val="00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2454128" y="7616952"/>
            <a:ext cx="82296" cy="91440"/>
          </a:xfrm>
          <a:prstGeom prst="rect">
            <a:avLst/>
          </a:prstGeom>
          <a:solidFill>
            <a:srgbClr val="008F8F"/>
          </a:solidFill>
          <a:ln>
            <a:solidFill>
              <a:srgbClr val="00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2627864" y="7562088"/>
            <a:ext cx="82296" cy="146304"/>
          </a:xfrm>
          <a:prstGeom prst="rect">
            <a:avLst/>
          </a:prstGeom>
          <a:solidFill>
            <a:srgbClr val="008F8F"/>
          </a:solidFill>
          <a:ln>
            <a:solidFill>
              <a:srgbClr val="00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2801600" y="7488936"/>
            <a:ext cx="82296" cy="219456"/>
          </a:xfrm>
          <a:prstGeom prst="rect">
            <a:avLst/>
          </a:prstGeom>
          <a:solidFill>
            <a:srgbClr val="008F8F"/>
          </a:solidFill>
          <a:ln>
            <a:solidFill>
              <a:srgbClr val="00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2975336" y="7388352"/>
            <a:ext cx="82296" cy="320040"/>
          </a:xfrm>
          <a:prstGeom prst="rect">
            <a:avLst/>
          </a:prstGeom>
          <a:solidFill>
            <a:srgbClr val="008F8F"/>
          </a:solidFill>
          <a:ln>
            <a:solidFill>
              <a:srgbClr val="00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 flipV="1">
            <a:off x="11420856" y="6976872"/>
            <a:ext cx="1554480" cy="704088"/>
          </a:xfrm>
          <a:prstGeom prst="line">
            <a:avLst/>
          </a:prstGeom>
          <a:ln w="16510">
            <a:solidFill>
              <a:srgbClr val="9ED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Oval 150"/>
          <p:cNvSpPr/>
          <p:nvPr/>
        </p:nvSpPr>
        <p:spPr>
          <a:xfrm>
            <a:off x="11036808" y="6922007"/>
            <a:ext cx="173736" cy="173736"/>
          </a:xfrm>
          <a:prstGeom prst="ellipse">
            <a:avLst/>
          </a:prstGeom>
          <a:solidFill>
            <a:srgbClr val="30A552"/>
          </a:solidFill>
          <a:ln w="12700">
            <a:solidFill>
              <a:srgbClr val="30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1036808" y="6956755"/>
            <a:ext cx="173736" cy="955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311128" y="6917436"/>
            <a:ext cx="12344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0" b="1">
                <a:solidFill>
                  <a:srgbClr val="FFFFFF"/>
                </a:solidFill>
                <a:latin typeface="Arial"/>
              </a:rPr>
              <a:t>Faster delivery timelines</a:t>
            </a:r>
          </a:p>
        </p:txBody>
      </p:sp>
      <p:sp>
        <p:nvSpPr>
          <p:cNvPr id="154" name="Oval 153"/>
          <p:cNvSpPr/>
          <p:nvPr/>
        </p:nvSpPr>
        <p:spPr>
          <a:xfrm>
            <a:off x="11036808" y="7232903"/>
            <a:ext cx="173736" cy="173736"/>
          </a:xfrm>
          <a:prstGeom prst="ellipse">
            <a:avLst/>
          </a:prstGeom>
          <a:solidFill>
            <a:srgbClr val="30A552"/>
          </a:solidFill>
          <a:ln w="12700">
            <a:solidFill>
              <a:srgbClr val="30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1036808" y="7267651"/>
            <a:ext cx="173736" cy="955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1311128" y="7228331"/>
            <a:ext cx="12344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0" b="1">
                <a:solidFill>
                  <a:srgbClr val="FFFFFF"/>
                </a:solidFill>
                <a:latin typeface="Arial"/>
              </a:rPr>
              <a:t>Higher consistency
across teams</a:t>
            </a:r>
          </a:p>
        </p:txBody>
      </p:sp>
      <p:sp>
        <p:nvSpPr>
          <p:cNvPr id="157" name="Oval 156"/>
          <p:cNvSpPr/>
          <p:nvPr/>
        </p:nvSpPr>
        <p:spPr>
          <a:xfrm>
            <a:off x="11036808" y="7543800"/>
            <a:ext cx="173736" cy="173736"/>
          </a:xfrm>
          <a:prstGeom prst="ellipse">
            <a:avLst/>
          </a:prstGeom>
          <a:solidFill>
            <a:srgbClr val="30A552"/>
          </a:solidFill>
          <a:ln w="12700">
            <a:solidFill>
              <a:srgbClr val="30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1036808" y="7578547"/>
            <a:ext cx="173736" cy="955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311128" y="7539227"/>
            <a:ext cx="12344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0" b="1">
                <a:solidFill>
                  <a:srgbClr val="FFFFFF"/>
                </a:solidFill>
                <a:latin typeface="Arial"/>
              </a:rPr>
              <a:t>Scalable AI SDLC
foundation for future
initiatives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29184" y="8439912"/>
            <a:ext cx="12938760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640080" y="8481060"/>
            <a:ext cx="219456" cy="219456"/>
          </a:xfrm>
          <a:prstGeom prst="ellipse">
            <a:avLst/>
          </a:prstGeom>
          <a:solidFill>
            <a:srgbClr val="006F78"/>
          </a:solidFill>
          <a:ln w="12700">
            <a:solidFill>
              <a:srgbClr val="00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40080" y="8524951"/>
            <a:ext cx="219456" cy="120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★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51560" y="8549640"/>
            <a:ext cx="7040880" cy="91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006F78"/>
                </a:solidFill>
                <a:latin typeface="Arial"/>
              </a:rPr>
              <a:t>Building a repeatable, measurable, and impactful AI-driven development culture.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100" b="1">
                <a:solidFill>
                  <a:srgbClr val="06193A"/>
                </a:solidFill>
                <a:latin typeface="Arial"/>
              </a:rPr>
              <a:t>AI-Driven Delivery Impact – Annual Summary </a:t>
            </a:r>
            <a:r>
              <a:rPr sz="3100" b="1">
                <a:solidFill>
                  <a:srgbClr val="008F8F"/>
                </a:solidFill>
                <a:latin typeface="Arial"/>
              </a:rPr>
              <a:t>DISC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7680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C6778"/>
                </a:solidFill>
                <a:latin typeface="Arial"/>
              </a:rPr>
              <a:t>Leveraging AI &amp; RPI Model to Build Faster, Smarter and Reusable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4924" y="1321307"/>
            <a:ext cx="12573000" cy="685800"/>
          </a:xfrm>
          <a:prstGeom prst="roundRect">
            <a:avLst/>
          </a:prstGeom>
          <a:solidFill>
            <a:srgbClr val="EEF2F7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12573000" cy="685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1783080" cy="685800"/>
          </a:xfrm>
          <a:prstGeom prst="roundRect">
            <a:avLst/>
          </a:prstGeom>
          <a:solidFill>
            <a:srgbClr val="008F8F"/>
          </a:solidFill>
          <a:ln>
            <a:solidFill>
              <a:srgbClr val="00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435608"/>
            <a:ext cx="1188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EXECUTIVE
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481328"/>
            <a:ext cx="58521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253F"/>
                </a:solidFill>
                <a:latin typeface="Arial"/>
              </a:rPr>
              <a:t>From throwaway prompts to reusable RPI specs — creating persistent delivery context for humans and AI agents.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481328"/>
            <a:ext cx="3474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6F78"/>
                </a:solidFill>
                <a:latin typeface="Arial"/>
              </a:rPr>
              <a:t>Result: faster cycles, reduced rework, stronger standards, and a scalable AI SDLC foundation.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" y="2372868"/>
            <a:ext cx="12938760" cy="3337560"/>
          </a:xfrm>
          <a:prstGeom prst="roundRect">
            <a:avLst/>
          </a:prstGeom>
          <a:solidFill>
            <a:srgbClr val="EEF2F7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" y="2331720"/>
            <a:ext cx="12938760" cy="3337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776" y="2651760"/>
            <a:ext cx="41148" cy="109728"/>
          </a:xfrm>
          <a:prstGeom prst="rect">
            <a:avLst/>
          </a:prstGeom>
          <a:solidFill>
            <a:srgbClr val="006F78"/>
          </a:solidFill>
          <a:ln>
            <a:solidFill>
              <a:srgbClr val="00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2596896"/>
            <a:ext cx="41148" cy="164592"/>
          </a:xfrm>
          <a:prstGeom prst="rect">
            <a:avLst/>
          </a:prstGeom>
          <a:solidFill>
            <a:srgbClr val="006F78"/>
          </a:solidFill>
          <a:ln>
            <a:solidFill>
              <a:srgbClr val="00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" y="2532888"/>
            <a:ext cx="41148" cy="228600"/>
          </a:xfrm>
          <a:prstGeom prst="rect">
            <a:avLst/>
          </a:prstGeom>
          <a:solidFill>
            <a:srgbClr val="006F78"/>
          </a:solidFill>
          <a:ln>
            <a:solidFill>
              <a:srgbClr val="00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505456"/>
            <a:ext cx="27432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6F78"/>
                </a:solidFill>
                <a:latin typeface="Arial"/>
              </a:rPr>
              <a:t>KEY IMPACT METRICS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" y="3099815"/>
            <a:ext cx="2395728" cy="24505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08176" y="2798063"/>
            <a:ext cx="566928" cy="566928"/>
          </a:xfrm>
          <a:prstGeom prst="ellipse">
            <a:avLst/>
          </a:prstGeom>
          <a:solidFill>
            <a:srgbClr val="008F8F"/>
          </a:solidFill>
          <a:ln w="12700">
            <a:solidFill>
              <a:srgbClr val="00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8176" y="2911449"/>
            <a:ext cx="566928" cy="311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3575303"/>
            <a:ext cx="2121408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008F8F"/>
                </a:solidFill>
                <a:latin typeface="Arial"/>
              </a:rPr>
              <a:t>30–50%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3977639"/>
            <a:ext cx="1938528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70" b="1">
                <a:solidFill>
                  <a:srgbClr val="1A253F"/>
                </a:solidFill>
                <a:latin typeface="Arial"/>
              </a:rPr>
              <a:t>Faster Development
Cycles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6696" y="4855464"/>
            <a:ext cx="438912" cy="393192"/>
          </a:xfrm>
          <a:prstGeom prst="rect">
            <a:avLst/>
          </a:prstGeom>
          <a:solidFill>
            <a:srgbClr val="949EAB"/>
          </a:solidFill>
          <a:ln>
            <a:solidFill>
              <a:srgbClr val="949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75104" y="4535424"/>
            <a:ext cx="438912" cy="713232"/>
          </a:xfrm>
          <a:prstGeom prst="rect">
            <a:avLst/>
          </a:prstGeom>
          <a:solidFill>
            <a:srgbClr val="008F8F"/>
          </a:solidFill>
          <a:ln>
            <a:solidFill>
              <a:srgbClr val="00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41248" y="5248656"/>
            <a:ext cx="1728216" cy="0"/>
          </a:xfrm>
          <a:prstGeom prst="line">
            <a:avLst/>
          </a:prstGeom>
          <a:ln w="12700">
            <a:solidFill>
              <a:srgbClr val="949E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207008" y="4352544"/>
            <a:ext cx="1207008" cy="822960"/>
          </a:xfrm>
          <a:prstGeom prst="line">
            <a:avLst/>
          </a:prstGeom>
          <a:ln w="21590">
            <a:solidFill>
              <a:srgbClr val="008F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96696" y="5312664"/>
            <a:ext cx="438912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A253F"/>
                </a:solidFill>
                <a:latin typeface="Arial"/>
              </a:rPr>
              <a:t>Before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8528" y="5312664"/>
            <a:ext cx="512064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A253F"/>
                </a:solidFill>
                <a:latin typeface="Arial"/>
              </a:rPr>
              <a:t>After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35808" y="3099815"/>
            <a:ext cx="2395728" cy="24505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50208" y="2798063"/>
            <a:ext cx="566928" cy="566928"/>
          </a:xfrm>
          <a:prstGeom prst="ellipse">
            <a:avLst/>
          </a:prstGeom>
          <a:solidFill>
            <a:srgbClr val="1F69CA"/>
          </a:solidFill>
          <a:ln w="12700">
            <a:solidFill>
              <a:srgbClr val="1F6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50208" y="2911449"/>
            <a:ext cx="566928" cy="311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72968" y="3575303"/>
            <a:ext cx="2121408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1F69CA"/>
                </a:solidFill>
                <a:latin typeface="Arial"/>
              </a:rPr>
              <a:t>70%+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64408" y="3977639"/>
            <a:ext cx="1938528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70" b="1">
                <a:solidFill>
                  <a:srgbClr val="1A253F"/>
                </a:solidFill>
                <a:latin typeface="Arial"/>
              </a:rPr>
              <a:t>Reusable Prompts/Specs
Across Features</a:t>
            </a:r>
          </a:p>
        </p:txBody>
      </p:sp>
      <p:sp>
        <p:nvSpPr>
          <p:cNvPr id="32" name="Oval 31"/>
          <p:cNvSpPr/>
          <p:nvPr/>
        </p:nvSpPr>
        <p:spPr>
          <a:xfrm>
            <a:off x="3611880" y="4288536"/>
            <a:ext cx="960120" cy="960120"/>
          </a:xfrm>
          <a:prstGeom prst="ellipse">
            <a:avLst/>
          </a:prstGeom>
          <a:solidFill>
            <a:srgbClr val="E7F2FF"/>
          </a:solidFill>
          <a:ln>
            <a:solidFill>
              <a:srgbClr val="E7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ie 32"/>
          <p:cNvSpPr/>
          <p:nvPr/>
        </p:nvSpPr>
        <p:spPr>
          <a:xfrm>
            <a:off x="3611880" y="4288536"/>
            <a:ext cx="960120" cy="960120"/>
          </a:xfrm>
          <a:prstGeom prst="pie">
            <a:avLst/>
          </a:prstGeom>
          <a:solidFill>
            <a:srgbClr val="1F69CA"/>
          </a:solidFill>
          <a:ln>
            <a:solidFill>
              <a:srgbClr val="1F6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0" y="4517136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0" y="4690872"/>
            <a:ext cx="502920" cy="1188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F69CA"/>
                </a:solidFill>
                <a:latin typeface="Arial"/>
              </a:rPr>
              <a:t>70%+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8848" y="4416552"/>
            <a:ext cx="658368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A253F"/>
                </a:solidFill>
                <a:latin typeface="Arial"/>
              </a:rPr>
              <a:t>Reused
Across
Teams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77840" y="3099815"/>
            <a:ext cx="2395728" cy="24505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A4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92240" y="2798063"/>
            <a:ext cx="566928" cy="566928"/>
          </a:xfrm>
          <a:prstGeom prst="ellipse">
            <a:avLst/>
          </a:prstGeom>
          <a:solidFill>
            <a:srgbClr val="7A49B5"/>
          </a:solidFill>
          <a:ln w="12700">
            <a:solidFill>
              <a:srgbClr val="7A4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2911449"/>
            <a:ext cx="566928" cy="311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•••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0" y="3575303"/>
            <a:ext cx="2121408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7A49B5"/>
                </a:solidFill>
                <a:latin typeface="Arial"/>
              </a:rPr>
              <a:t>40% 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3977639"/>
            <a:ext cx="1938528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70" b="1">
                <a:solidFill>
                  <a:srgbClr val="1A253F"/>
                </a:solidFill>
                <a:latin typeface="Arial"/>
              </a:rPr>
              <a:t>Reduction in Rework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4288536"/>
            <a:ext cx="438912" cy="960120"/>
          </a:xfrm>
          <a:prstGeom prst="rect">
            <a:avLst/>
          </a:prstGeom>
          <a:solidFill>
            <a:srgbClr val="949EAB"/>
          </a:solidFill>
          <a:ln>
            <a:solidFill>
              <a:srgbClr val="949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50608" y="4864608"/>
            <a:ext cx="438912" cy="384048"/>
          </a:xfrm>
          <a:prstGeom prst="rect">
            <a:avLst/>
          </a:prstGeom>
          <a:solidFill>
            <a:srgbClr val="7A49B5"/>
          </a:solidFill>
          <a:ln>
            <a:solidFill>
              <a:srgbClr val="7A4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5989320" y="5248656"/>
            <a:ext cx="1664208" cy="0"/>
          </a:xfrm>
          <a:prstGeom prst="line">
            <a:avLst/>
          </a:prstGeom>
          <a:ln w="12700">
            <a:solidFill>
              <a:srgbClr val="949E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766560" y="4379976"/>
            <a:ext cx="621792" cy="457200"/>
          </a:xfrm>
          <a:prstGeom prst="line">
            <a:avLst/>
          </a:prstGeom>
          <a:ln w="17780">
            <a:solidFill>
              <a:srgbClr val="7A49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108192" y="5312664"/>
            <a:ext cx="530352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A253F"/>
                </a:solidFill>
                <a:latin typeface="Arial"/>
              </a:rPr>
              <a:t>Before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95744" y="5312664"/>
            <a:ext cx="530352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A253F"/>
                </a:solidFill>
                <a:latin typeface="Arial"/>
              </a:rPr>
              <a:t>After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19871" y="3099815"/>
            <a:ext cx="2395728" cy="24505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034272" y="2798063"/>
            <a:ext cx="566928" cy="566928"/>
          </a:xfrm>
          <a:prstGeom prst="ellipse">
            <a:avLst/>
          </a:prstGeom>
          <a:solidFill>
            <a:srgbClr val="30A552"/>
          </a:solidFill>
          <a:ln w="12700">
            <a:solidFill>
              <a:srgbClr val="30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34272" y="2911449"/>
            <a:ext cx="566928" cy="311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57031" y="3575303"/>
            <a:ext cx="2121408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30A552"/>
                </a:solidFill>
                <a:latin typeface="Arial"/>
              </a:rPr>
              <a:t>Higher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3977639"/>
            <a:ext cx="1938528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70" b="1">
                <a:solidFill>
                  <a:srgbClr val="1A253F"/>
                </a:solidFill>
                <a:latin typeface="Arial"/>
              </a:rPr>
              <a:t>Code Quality &amp; Consistency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94192" y="4507992"/>
            <a:ext cx="184708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30A552"/>
                </a:solidFill>
                <a:latin typeface="Arial"/>
              </a:rPr>
              <a:t>★ ★ ★ ★ 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19" y="5020056"/>
            <a:ext cx="1627632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A253F"/>
                </a:solidFill>
                <a:latin typeface="Arial"/>
              </a:rPr>
              <a:t>Fewer Defects,
Stronger Standards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661904" y="3099815"/>
            <a:ext cx="2395728" cy="24505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576304" y="2798063"/>
            <a:ext cx="566928" cy="566928"/>
          </a:xfrm>
          <a:prstGeom prst="ellipse">
            <a:avLst/>
          </a:prstGeom>
          <a:solidFill>
            <a:srgbClr val="EE8800"/>
          </a:solidFill>
          <a:ln w="12700">
            <a:solidFill>
              <a:srgbClr val="EE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576304" y="2911449"/>
            <a:ext cx="566928" cy="311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•••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99064" y="3575303"/>
            <a:ext cx="2121408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EE8800"/>
                </a:solidFill>
                <a:latin typeface="Arial"/>
              </a:rPr>
              <a:t>Faster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90504" y="3977639"/>
            <a:ext cx="1938528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70" b="1">
                <a:solidFill>
                  <a:srgbClr val="1A253F"/>
                </a:solidFill>
                <a:latin typeface="Arial"/>
              </a:rPr>
              <a:t>Collaboration &amp; Onboarding</a:t>
            </a:r>
          </a:p>
        </p:txBody>
      </p:sp>
      <p:sp>
        <p:nvSpPr>
          <p:cNvPr id="60" name="Oval 59"/>
          <p:cNvSpPr/>
          <p:nvPr/>
        </p:nvSpPr>
        <p:spPr>
          <a:xfrm>
            <a:off x="11365992" y="4306824"/>
            <a:ext cx="155448" cy="155448"/>
          </a:xfrm>
          <a:prstGeom prst="ellipse">
            <a:avLst/>
          </a:prstGeom>
          <a:solidFill>
            <a:srgbClr val="EE8800"/>
          </a:solidFill>
          <a:ln>
            <a:solidFill>
              <a:srgbClr val="EE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1320272" y="4462272"/>
            <a:ext cx="256032" cy="292608"/>
          </a:xfrm>
          <a:prstGeom prst="roundRect">
            <a:avLst/>
          </a:prstGeom>
          <a:solidFill>
            <a:srgbClr val="EE8800"/>
          </a:solidFill>
          <a:ln>
            <a:solidFill>
              <a:srgbClr val="EE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695176" y="4178808"/>
            <a:ext cx="155448" cy="155448"/>
          </a:xfrm>
          <a:prstGeom prst="ellipse">
            <a:avLst/>
          </a:prstGeom>
          <a:solidFill>
            <a:srgbClr val="EE8800"/>
          </a:solidFill>
          <a:ln>
            <a:solidFill>
              <a:srgbClr val="EE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1649456" y="4334256"/>
            <a:ext cx="256032" cy="420624"/>
          </a:xfrm>
          <a:prstGeom prst="roundRect">
            <a:avLst/>
          </a:prstGeom>
          <a:solidFill>
            <a:srgbClr val="EE8800"/>
          </a:solidFill>
          <a:ln>
            <a:solidFill>
              <a:srgbClr val="EE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2024360" y="4032504"/>
            <a:ext cx="155448" cy="155448"/>
          </a:xfrm>
          <a:prstGeom prst="ellipse">
            <a:avLst/>
          </a:prstGeom>
          <a:solidFill>
            <a:srgbClr val="EE8800"/>
          </a:solidFill>
          <a:ln>
            <a:solidFill>
              <a:srgbClr val="EE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1978640" y="4187952"/>
            <a:ext cx="256032" cy="566928"/>
          </a:xfrm>
          <a:prstGeom prst="roundRect">
            <a:avLst/>
          </a:prstGeom>
          <a:solidFill>
            <a:srgbClr val="EE8800"/>
          </a:solidFill>
          <a:ln>
            <a:solidFill>
              <a:srgbClr val="EE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 flipV="1">
            <a:off x="11466576" y="3913632"/>
            <a:ext cx="804672" cy="310896"/>
          </a:xfrm>
          <a:prstGeom prst="line">
            <a:avLst/>
          </a:prstGeom>
          <a:ln w="21590">
            <a:solidFill>
              <a:srgbClr val="EE8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1027664" y="5047488"/>
            <a:ext cx="166420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A253F"/>
                </a:solidFill>
                <a:latin typeface="Arial"/>
              </a:rPr>
              <a:t>Shared Specs →
Cross-team Reuse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61188" y="5847588"/>
            <a:ext cx="5989320" cy="2011680"/>
          </a:xfrm>
          <a:prstGeom prst="roundRect">
            <a:avLst/>
          </a:prstGeom>
          <a:solidFill>
            <a:srgbClr val="EEF2F7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29184" y="5806440"/>
            <a:ext cx="5989320" cy="2011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0352" y="5998464"/>
            <a:ext cx="54864" cy="54864"/>
          </a:xfrm>
          <a:prstGeom prst="ellipse">
            <a:avLst/>
          </a:prstGeom>
          <a:solidFill>
            <a:srgbClr val="006F78"/>
          </a:solidFill>
          <a:ln>
            <a:solidFill>
              <a:srgbClr val="00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12647" y="5998464"/>
            <a:ext cx="54864" cy="54864"/>
          </a:xfrm>
          <a:prstGeom prst="ellipse">
            <a:avLst/>
          </a:prstGeom>
          <a:solidFill>
            <a:srgbClr val="006F78"/>
          </a:solidFill>
          <a:ln>
            <a:solidFill>
              <a:srgbClr val="00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94944" y="5998464"/>
            <a:ext cx="54864" cy="54864"/>
          </a:xfrm>
          <a:prstGeom prst="ellipse">
            <a:avLst/>
          </a:prstGeom>
          <a:solidFill>
            <a:srgbClr val="006F78"/>
          </a:solidFill>
          <a:ln>
            <a:solidFill>
              <a:srgbClr val="00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576072" y="6025895"/>
            <a:ext cx="164592" cy="0"/>
          </a:xfrm>
          <a:prstGeom prst="line">
            <a:avLst/>
          </a:prstGeom>
          <a:ln w="1270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859536" y="5925312"/>
            <a:ext cx="38404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06F78"/>
                </a:solidFill>
                <a:latin typeface="Arial"/>
              </a:rPr>
              <a:t>OUR AI SDLC FLOW (RPI MODEL)</a:t>
            </a:r>
          </a:p>
        </p:txBody>
      </p:sp>
      <p:sp>
        <p:nvSpPr>
          <p:cNvPr id="75" name="Oval 74"/>
          <p:cNvSpPr/>
          <p:nvPr/>
        </p:nvSpPr>
        <p:spPr>
          <a:xfrm>
            <a:off x="740664" y="6446520"/>
            <a:ext cx="640080" cy="640080"/>
          </a:xfrm>
          <a:prstGeom prst="ellipse">
            <a:avLst/>
          </a:prstGeom>
          <a:solidFill>
            <a:srgbClr val="E0F7F7"/>
          </a:solidFill>
          <a:ln w="12700">
            <a:solidFill>
              <a:srgbClr val="E0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0664" y="6574536"/>
            <a:ext cx="640080" cy="3520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06F78"/>
                </a:solidFill>
                <a:latin typeface="Arial"/>
              </a:rPr>
              <a:t>☁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453896" y="6766559"/>
            <a:ext cx="347472" cy="0"/>
          </a:xfrm>
          <a:prstGeom prst="line">
            <a:avLst/>
          </a:prstGeom>
          <a:ln w="1778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76072" y="7141464"/>
            <a:ext cx="960120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30" b="1">
                <a:solidFill>
                  <a:srgbClr val="006F78"/>
                </a:solidFill>
                <a:latin typeface="Arial"/>
              </a:rPr>
              <a:t>1. Prompt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76072" y="7306055"/>
            <a:ext cx="9875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10" b="0">
                <a:solidFill>
                  <a:srgbClr val="1A253F"/>
                </a:solidFill>
                <a:latin typeface="Arial"/>
              </a:rPr>
              <a:t>Capture intent
and requirements</a:t>
            </a:r>
          </a:p>
        </p:txBody>
      </p:sp>
      <p:sp>
        <p:nvSpPr>
          <p:cNvPr id="80" name="Oval 79"/>
          <p:cNvSpPr/>
          <p:nvPr/>
        </p:nvSpPr>
        <p:spPr>
          <a:xfrm>
            <a:off x="1883664" y="6446520"/>
            <a:ext cx="640080" cy="640080"/>
          </a:xfrm>
          <a:prstGeom prst="ellipse">
            <a:avLst/>
          </a:prstGeom>
          <a:solidFill>
            <a:srgbClr val="E7F2FF"/>
          </a:solidFill>
          <a:ln w="12700">
            <a:solidFill>
              <a:srgbClr val="E7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83664" y="6574536"/>
            <a:ext cx="640080" cy="3520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F69CA"/>
                </a:solidFill>
                <a:latin typeface="Arial"/>
              </a:rPr>
              <a:t>▤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2596896" y="6766559"/>
            <a:ext cx="347472" cy="0"/>
          </a:xfrm>
          <a:prstGeom prst="line">
            <a:avLst/>
          </a:prstGeom>
          <a:ln w="1778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1719072" y="7141464"/>
            <a:ext cx="960120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30" b="1">
                <a:solidFill>
                  <a:srgbClr val="1F69CA"/>
                </a:solidFill>
                <a:latin typeface="Arial"/>
              </a:rPr>
              <a:t>2. RPI Spec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19072" y="7306055"/>
            <a:ext cx="9875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10" b="0">
                <a:solidFill>
                  <a:srgbClr val="1A253F"/>
                </a:solidFill>
                <a:latin typeface="Arial"/>
              </a:rPr>
              <a:t>Generate structured
spec using RPI model</a:t>
            </a:r>
          </a:p>
        </p:txBody>
      </p:sp>
      <p:sp>
        <p:nvSpPr>
          <p:cNvPr id="85" name="Oval 84"/>
          <p:cNvSpPr/>
          <p:nvPr/>
        </p:nvSpPr>
        <p:spPr>
          <a:xfrm>
            <a:off x="3026664" y="6446520"/>
            <a:ext cx="640080" cy="640080"/>
          </a:xfrm>
          <a:prstGeom prst="ellipse">
            <a:avLst/>
          </a:prstGeom>
          <a:solidFill>
            <a:srgbClr val="F3EBFF"/>
          </a:solidFill>
          <a:ln w="12700">
            <a:solidFill>
              <a:srgbClr val="F3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26664" y="6574536"/>
            <a:ext cx="640080" cy="3520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7A49B5"/>
                </a:solidFill>
                <a:latin typeface="Arial"/>
              </a:rPr>
              <a:t>▱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3739896" y="6766559"/>
            <a:ext cx="347472" cy="0"/>
          </a:xfrm>
          <a:prstGeom prst="line">
            <a:avLst/>
          </a:prstGeom>
          <a:ln w="1778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2862072" y="7141464"/>
            <a:ext cx="960120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30" b="1">
                <a:solidFill>
                  <a:srgbClr val="7A49B5"/>
                </a:solidFill>
                <a:latin typeface="Arial"/>
              </a:rPr>
              <a:t>3. Cursor Execution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862072" y="7306055"/>
            <a:ext cx="9875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10" b="0">
                <a:solidFill>
                  <a:srgbClr val="1A253F"/>
                </a:solidFill>
                <a:latin typeface="Arial"/>
              </a:rPr>
              <a:t>AI-assisted coding
with Cursor IDE</a:t>
            </a:r>
          </a:p>
        </p:txBody>
      </p:sp>
      <p:sp>
        <p:nvSpPr>
          <p:cNvPr id="90" name="Oval 89"/>
          <p:cNvSpPr/>
          <p:nvPr/>
        </p:nvSpPr>
        <p:spPr>
          <a:xfrm>
            <a:off x="4169664" y="6446520"/>
            <a:ext cx="640080" cy="640080"/>
          </a:xfrm>
          <a:prstGeom prst="ellipse">
            <a:avLst/>
          </a:prstGeom>
          <a:solidFill>
            <a:srgbClr val="EAF8EE"/>
          </a:solidFill>
          <a:ln w="12700">
            <a:solidFill>
              <a:srgbClr val="EAF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69664" y="6574536"/>
            <a:ext cx="640080" cy="3520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30A552"/>
                </a:solidFill>
                <a:latin typeface="Arial"/>
              </a:rPr>
              <a:t>&lt;/&gt;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4882896" y="6766559"/>
            <a:ext cx="347472" cy="0"/>
          </a:xfrm>
          <a:prstGeom prst="line">
            <a:avLst/>
          </a:prstGeom>
          <a:ln w="17780">
            <a:solidFill>
              <a:srgbClr val="006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4005072" y="7141464"/>
            <a:ext cx="960120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30" b="1">
                <a:solidFill>
                  <a:srgbClr val="30A552"/>
                </a:solidFill>
                <a:latin typeface="Arial"/>
              </a:rPr>
              <a:t>4. Validate &amp; Refine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05072" y="7306055"/>
            <a:ext cx="9875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10" b="0">
                <a:solidFill>
                  <a:srgbClr val="1A253F"/>
                </a:solidFill>
                <a:latin typeface="Arial"/>
              </a:rPr>
              <a:t>Review, test and
refine for quality</a:t>
            </a:r>
          </a:p>
        </p:txBody>
      </p:sp>
      <p:sp>
        <p:nvSpPr>
          <p:cNvPr id="95" name="Oval 94"/>
          <p:cNvSpPr/>
          <p:nvPr/>
        </p:nvSpPr>
        <p:spPr>
          <a:xfrm>
            <a:off x="5312664" y="6446520"/>
            <a:ext cx="640080" cy="640080"/>
          </a:xfrm>
          <a:prstGeom prst="ellipse">
            <a:avLst/>
          </a:prstGeom>
          <a:solidFill>
            <a:srgbClr val="FFF5E7"/>
          </a:solidFill>
          <a:ln w="12700">
            <a:solidFill>
              <a:srgbClr val="FFF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312664" y="6574536"/>
            <a:ext cx="640080" cy="3520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E8800"/>
                </a:solidFill>
                <a:latin typeface="Arial"/>
              </a:rPr>
              <a:t>⬡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48072" y="7141464"/>
            <a:ext cx="960120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30" b="1">
                <a:solidFill>
                  <a:srgbClr val="EE8800"/>
                </a:solidFill>
                <a:latin typeface="Arial"/>
              </a:rPr>
              <a:t>5. Reuse &amp; Scale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48072" y="7306055"/>
            <a:ext cx="9875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10" b="0">
                <a:solidFill>
                  <a:srgbClr val="1A253F"/>
                </a:solidFill>
                <a:latin typeface="Arial"/>
              </a:rPr>
              <a:t>Share specs, reuse
and scale across teams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85216" y="7534656"/>
            <a:ext cx="5477256" cy="228600"/>
          </a:xfrm>
          <a:prstGeom prst="roundRect">
            <a:avLst/>
          </a:prstGeom>
          <a:solidFill>
            <a:srgbClr val="E0F7F7"/>
          </a:solidFill>
          <a:ln>
            <a:solidFill>
              <a:srgbClr val="E0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77824" y="7584948"/>
            <a:ext cx="489204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40" b="1">
                <a:solidFill>
                  <a:srgbClr val="1A253F"/>
                </a:solidFill>
                <a:latin typeface="Arial"/>
              </a:rPr>
              <a:t>↻   Persistent context. Reusable specs. Scalable AI-assisted development.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451092" y="5847588"/>
            <a:ext cx="4251960" cy="2011680"/>
          </a:xfrm>
          <a:prstGeom prst="roundRect">
            <a:avLst/>
          </a:prstGeom>
          <a:solidFill>
            <a:srgbClr val="EEF2F7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6419088" y="5806440"/>
            <a:ext cx="4251960" cy="2011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876288" y="5952744"/>
            <a:ext cx="33375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9CA"/>
                </a:solidFill>
                <a:latin typeface="Arial"/>
              </a:rPr>
              <a:t>BEFORE vs AFTER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675120" y="6373368"/>
            <a:ext cx="1554480" cy="1234440"/>
          </a:xfrm>
          <a:prstGeom prst="round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8842248" y="6373368"/>
            <a:ext cx="1554480" cy="1234440"/>
          </a:xfrm>
          <a:prstGeom prst="roundRect">
            <a:avLst/>
          </a:prstGeom>
          <a:solidFill>
            <a:srgbClr val="EAF8EE"/>
          </a:solidFill>
          <a:ln>
            <a:solidFill>
              <a:srgbClr val="EAF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7104888" y="6272783"/>
            <a:ext cx="822960" cy="210312"/>
          </a:xfrm>
          <a:prstGeom prst="roundRect">
            <a:avLst/>
          </a:prstGeom>
          <a:solidFill>
            <a:srgbClr val="525E6F"/>
          </a:solidFill>
          <a:ln>
            <a:solidFill>
              <a:srgbClr val="525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104888" y="6318504"/>
            <a:ext cx="822960" cy="731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BEFORE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208008" y="6272783"/>
            <a:ext cx="822960" cy="210312"/>
          </a:xfrm>
          <a:prstGeom prst="roundRect">
            <a:avLst/>
          </a:prstGeom>
          <a:solidFill>
            <a:srgbClr val="30A552"/>
          </a:solidFill>
          <a:ln>
            <a:solidFill>
              <a:srgbClr val="30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208008" y="6318504"/>
            <a:ext cx="822960" cy="731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AFTER</a:t>
            </a:r>
          </a:p>
        </p:txBody>
      </p:sp>
      <p:sp>
        <p:nvSpPr>
          <p:cNvPr id="110" name="Right Triangle 109"/>
          <p:cNvSpPr/>
          <p:nvPr/>
        </p:nvSpPr>
        <p:spPr>
          <a:xfrm>
            <a:off x="8202167" y="6675120"/>
            <a:ext cx="530352" cy="658368"/>
          </a:xfrm>
          <a:prstGeom prst="rtTriangle">
            <a:avLst/>
          </a:prstGeom>
          <a:solidFill>
            <a:srgbClr val="26AF70"/>
          </a:solidFill>
          <a:ln>
            <a:solidFill>
              <a:srgbClr val="26A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803136" y="6565392"/>
            <a:ext cx="182880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525E6F"/>
                </a:solidFill>
                <a:latin typeface="Arial"/>
              </a:rPr>
              <a:t>•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086600" y="6565392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60" b="0">
                <a:solidFill>
                  <a:srgbClr val="1A253F"/>
                </a:solidFill>
                <a:latin typeface="Arial"/>
              </a:rPr>
              <a:t>One-off prompts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803136" y="6848855"/>
            <a:ext cx="182880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525E6F"/>
                </a:solidFill>
                <a:latin typeface="Arial"/>
              </a:rPr>
              <a:t>↻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086600" y="6848855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60" b="0">
                <a:solidFill>
                  <a:srgbClr val="1A253F"/>
                </a:solidFill>
                <a:latin typeface="Arial"/>
              </a:rPr>
              <a:t>Context lost
every iteration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803136" y="7132320"/>
            <a:ext cx="182880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525E6F"/>
                </a:solidFill>
                <a:latin typeface="Arial"/>
              </a:rPr>
              <a:t>!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086600" y="7132320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60" b="0">
                <a:solidFill>
                  <a:srgbClr val="1A253F"/>
                </a:solidFill>
                <a:latin typeface="Arial"/>
              </a:rPr>
              <a:t>High rework &amp;
inconsistent outputs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803136" y="7415783"/>
            <a:ext cx="182880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525E6F"/>
                </a:solidFill>
                <a:latin typeface="Arial"/>
              </a:rPr>
              <a:t>○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086600" y="7415783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60" b="0">
                <a:solidFill>
                  <a:srgbClr val="1A253F"/>
                </a:solidFill>
                <a:latin typeface="Arial"/>
              </a:rPr>
              <a:t>Slow delivery &amp;
steep onboarding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97696" y="6565392"/>
            <a:ext cx="201168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30A552"/>
                </a:solidFill>
                <a:latin typeface="Arial"/>
              </a:rPr>
              <a:t>&lt;/&gt;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272016" y="6565392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1A253F"/>
                </a:solidFill>
                <a:latin typeface="Arial"/>
              </a:rPr>
              <a:t>Structured RPI specs
(persistent context)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97696" y="6848855"/>
            <a:ext cx="201168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30A552"/>
                </a:solidFill>
                <a:latin typeface="Arial"/>
              </a:rPr>
              <a:t>✓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272016" y="6848855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1A253F"/>
                </a:solidFill>
                <a:latin typeface="Arial"/>
              </a:rPr>
              <a:t>Reusable across
teams &amp; features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997696" y="7132320"/>
            <a:ext cx="201168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30A552"/>
                </a:solidFill>
                <a:latin typeface="Arial"/>
              </a:rPr>
              <a:t>✓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272016" y="7132320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1A253F"/>
                </a:solidFill>
                <a:latin typeface="Arial"/>
              </a:rPr>
              <a:t>Reduced rework,
consistent outputs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997696" y="7415783"/>
            <a:ext cx="201168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30A552"/>
                </a:solidFill>
                <a:latin typeface="Arial"/>
              </a:rPr>
              <a:t>○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272016" y="7415783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1A253F"/>
                </a:solidFill>
                <a:latin typeface="Arial"/>
              </a:rPr>
              <a:t>Faster delivery &amp;
easier onboarding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0835640" y="5806440"/>
            <a:ext cx="2432304" cy="2011680"/>
          </a:xfrm>
          <a:prstGeom prst="roundRect">
            <a:avLst/>
          </a:prstGeom>
          <a:solidFill>
            <a:srgbClr val="006569"/>
          </a:solidFill>
          <a:ln>
            <a:solidFill>
              <a:srgbClr val="006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786616" y="5971031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1786616" y="6062471"/>
            <a:ext cx="457200" cy="2514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06F78"/>
                </a:solidFill>
                <a:latin typeface="Arial"/>
              </a:rPr>
              <a:t>♕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109960" y="6574536"/>
            <a:ext cx="188366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11219688" y="6830568"/>
            <a:ext cx="1664208" cy="0"/>
          </a:xfrm>
          <a:prstGeom prst="line">
            <a:avLst/>
          </a:prstGeom>
          <a:ln w="12700">
            <a:solidFill>
              <a:srgbClr val="84D5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tangle 131"/>
          <p:cNvSpPr/>
          <p:nvPr/>
        </p:nvSpPr>
        <p:spPr>
          <a:xfrm>
            <a:off x="12280392" y="7662672"/>
            <a:ext cx="82296" cy="45720"/>
          </a:xfrm>
          <a:prstGeom prst="rect">
            <a:avLst/>
          </a:prstGeom>
          <a:solidFill>
            <a:srgbClr val="008F8F"/>
          </a:solidFill>
          <a:ln>
            <a:solidFill>
              <a:srgbClr val="00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2454128" y="7616952"/>
            <a:ext cx="82296" cy="91440"/>
          </a:xfrm>
          <a:prstGeom prst="rect">
            <a:avLst/>
          </a:prstGeom>
          <a:solidFill>
            <a:srgbClr val="008F8F"/>
          </a:solidFill>
          <a:ln>
            <a:solidFill>
              <a:srgbClr val="00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2627864" y="7562088"/>
            <a:ext cx="82296" cy="146304"/>
          </a:xfrm>
          <a:prstGeom prst="rect">
            <a:avLst/>
          </a:prstGeom>
          <a:solidFill>
            <a:srgbClr val="008F8F"/>
          </a:solidFill>
          <a:ln>
            <a:solidFill>
              <a:srgbClr val="00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2801600" y="7488936"/>
            <a:ext cx="82296" cy="219456"/>
          </a:xfrm>
          <a:prstGeom prst="rect">
            <a:avLst/>
          </a:prstGeom>
          <a:solidFill>
            <a:srgbClr val="008F8F"/>
          </a:solidFill>
          <a:ln>
            <a:solidFill>
              <a:srgbClr val="00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2975336" y="7388352"/>
            <a:ext cx="82296" cy="320040"/>
          </a:xfrm>
          <a:prstGeom prst="rect">
            <a:avLst/>
          </a:prstGeom>
          <a:solidFill>
            <a:srgbClr val="008F8F"/>
          </a:solidFill>
          <a:ln>
            <a:solidFill>
              <a:srgbClr val="00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 flipV="1">
            <a:off x="11420856" y="6976872"/>
            <a:ext cx="1554480" cy="704088"/>
          </a:xfrm>
          <a:prstGeom prst="line">
            <a:avLst/>
          </a:prstGeom>
          <a:ln w="16510">
            <a:solidFill>
              <a:srgbClr val="9ED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Oval 137"/>
          <p:cNvSpPr/>
          <p:nvPr/>
        </p:nvSpPr>
        <p:spPr>
          <a:xfrm>
            <a:off x="11036808" y="6922007"/>
            <a:ext cx="173736" cy="173736"/>
          </a:xfrm>
          <a:prstGeom prst="ellipse">
            <a:avLst/>
          </a:prstGeom>
          <a:solidFill>
            <a:srgbClr val="30A552"/>
          </a:solidFill>
          <a:ln w="12700">
            <a:solidFill>
              <a:srgbClr val="30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036808" y="6956755"/>
            <a:ext cx="173736" cy="955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1311128" y="6917436"/>
            <a:ext cx="12344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0" b="1">
                <a:solidFill>
                  <a:srgbClr val="FFFFFF"/>
                </a:solidFill>
                <a:latin typeface="Arial"/>
              </a:rPr>
              <a:t>Faster delivery timelines</a:t>
            </a:r>
          </a:p>
        </p:txBody>
      </p:sp>
      <p:sp>
        <p:nvSpPr>
          <p:cNvPr id="141" name="Oval 140"/>
          <p:cNvSpPr/>
          <p:nvPr/>
        </p:nvSpPr>
        <p:spPr>
          <a:xfrm>
            <a:off x="11036808" y="7232903"/>
            <a:ext cx="173736" cy="173736"/>
          </a:xfrm>
          <a:prstGeom prst="ellipse">
            <a:avLst/>
          </a:prstGeom>
          <a:solidFill>
            <a:srgbClr val="30A552"/>
          </a:solidFill>
          <a:ln w="12700">
            <a:solidFill>
              <a:srgbClr val="30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1036808" y="7267651"/>
            <a:ext cx="173736" cy="955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311128" y="7228331"/>
            <a:ext cx="12344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0" b="1">
                <a:solidFill>
                  <a:srgbClr val="FFFFFF"/>
                </a:solidFill>
                <a:latin typeface="Arial"/>
              </a:rPr>
              <a:t>Higher consistency
across teams</a:t>
            </a:r>
          </a:p>
        </p:txBody>
      </p:sp>
      <p:sp>
        <p:nvSpPr>
          <p:cNvPr id="144" name="Oval 143"/>
          <p:cNvSpPr/>
          <p:nvPr/>
        </p:nvSpPr>
        <p:spPr>
          <a:xfrm>
            <a:off x="11036808" y="7543800"/>
            <a:ext cx="173736" cy="173736"/>
          </a:xfrm>
          <a:prstGeom prst="ellipse">
            <a:avLst/>
          </a:prstGeom>
          <a:solidFill>
            <a:srgbClr val="30A552"/>
          </a:solidFill>
          <a:ln w="12700">
            <a:solidFill>
              <a:srgbClr val="30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1036808" y="7578547"/>
            <a:ext cx="173736" cy="955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311128" y="7539227"/>
            <a:ext cx="12344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0" b="1">
                <a:solidFill>
                  <a:srgbClr val="FFFFFF"/>
                </a:solidFill>
                <a:latin typeface="Arial"/>
              </a:rPr>
              <a:t>Scalable AI SDLC
foundation for future
initiatives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29184" y="8439912"/>
            <a:ext cx="12938760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40080" y="8481060"/>
            <a:ext cx="219456" cy="219456"/>
          </a:xfrm>
          <a:prstGeom prst="ellipse">
            <a:avLst/>
          </a:prstGeom>
          <a:solidFill>
            <a:srgbClr val="006F78"/>
          </a:solidFill>
          <a:ln w="12700">
            <a:solidFill>
              <a:srgbClr val="00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40080" y="8524951"/>
            <a:ext cx="219456" cy="120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★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51560" y="8549640"/>
            <a:ext cx="7040880" cy="91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006F78"/>
                </a:solidFill>
                <a:latin typeface="Arial"/>
              </a:rPr>
              <a:t>Building a repeatable, measurable, and impactful AI-driven development culture.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